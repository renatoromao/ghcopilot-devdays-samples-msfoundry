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4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24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F708-2787-B159-F624-68DBD179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411BF-8A68-AD9C-42E1-ACE920996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717E1-EBBA-79B3-4695-184291476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F64FA-5305-A734-880B-79EA0A859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717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azure.com/" TargetMode="External"/><Relationship Id="rId7" Type="http://schemas.openxmlformats.org/officeDocument/2006/relationships/hyperlink" Target="https://github.com/renatoroma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pt-br/credentials/applied-skills/accelerate-app-development-by-using-github-copilot/" TargetMode="External"/><Relationship Id="rId5" Type="http://schemas.openxmlformats.org/officeDocument/2006/relationships/hyperlink" Target="https://learn.microsoft.com/pt-br/credentials/applied-skills/create-an-ai-agent/" TargetMode="External"/><Relationship Id="rId4" Type="http://schemas.openxmlformats.org/officeDocument/2006/relationships/hyperlink" Target="https://skills.sh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3771900"/>
            <a:ext cx="228600" cy="30861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Microsoft Foundry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13716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Criando agentes de IA </a:t>
            </a:r>
            <a:r>
              <a:rPr lang="en-US" sz="2800" dirty="0" err="1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prontos</a:t>
            </a:r>
            <a:r>
              <a:rPr lang="en-US" sz="28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2800" dirty="0" err="1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77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Renato Romão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CTO  ·  Belake.ai  ·  Microsoft MVP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Renato Romão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MVP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12+ years working as a Software Developer 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6x Microsoft MVP </a:t>
            </a:r>
          </a:p>
          <a:p>
            <a:pPr marL="800100" lvl="1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Studio </a:t>
            </a:r>
          </a:p>
          <a:p>
            <a:pPr marL="800100" lvl="1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5x MCT 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13,000+ students 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11,000+ YouTube subscribers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24B9F8-F9EB-FCBD-E113-D4FEC216B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4786" y="2016466"/>
            <a:ext cx="2077035" cy="2077035"/>
          </a:xfrm>
          <a:prstGeom prst="flowChartConnector">
            <a:avLst/>
          </a:prstGeom>
          <a:noFill/>
          <a:ln w="53975">
            <a:solidFill>
              <a:schemeClr val="bg1">
                <a:alpha val="50000"/>
              </a:schemeClr>
            </a:solidFill>
          </a:ln>
        </p:spPr>
      </p:pic>
      <p:pic>
        <p:nvPicPr>
          <p:cNvPr id="19" name="Picture 1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3DA1B31-4D12-BB73-1F85-9EDD4DD51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682" y="3429000"/>
            <a:ext cx="2418194" cy="24181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691640" y="1691640"/>
            <a:ext cx="36576" cy="6400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cenário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2057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agentes de IA precisam de mais que código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1691640" y="2606040"/>
            <a:ext cx="36576" cy="6400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920240" y="2560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2971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copiloto que acelera o desenvolvimento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1691640" y="3520440"/>
            <a:ext cx="36576" cy="6400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2024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para agentes em produção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1691640" y="4434840"/>
            <a:ext cx="36576" cy="6400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192024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combinação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de referência e fluxo de trabalho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600" dirty="0"/>
          </a:p>
        </p:txBody>
      </p:sp>
      <p:sp>
        <p:nvSpPr>
          <p:cNvPr id="21" name="Shape 19"/>
          <p:cNvSpPr/>
          <p:nvPr/>
        </p:nvSpPr>
        <p:spPr>
          <a:xfrm>
            <a:off x="1691640" y="5349240"/>
            <a:ext cx="36576" cy="6400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1920240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&amp; boas práticas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código ao agente em produção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cenário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um agente de IA não é só escrever código. É código + modelos + dados + governança.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5148" y="2011680"/>
            <a:ext cx="26974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495148" y="2011680"/>
            <a:ext cx="2697480" cy="73152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8" y="23774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9468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9468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de negócio, integrações, APIs, testes. Aqui é onde o desenvolvedor passa o dia.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29788" y="2011680"/>
            <a:ext cx="26974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3329788" y="2011680"/>
            <a:ext cx="269748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108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4108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04108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GPT, Claude, modelos open-source, modelos especializados. Qual usar? Quanto custa? E latência?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64428" y="2011680"/>
            <a:ext cx="26974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Shape 12"/>
          <p:cNvSpPr/>
          <p:nvPr/>
        </p:nvSpPr>
        <p:spPr>
          <a:xfrm>
            <a:off x="6164428" y="2011680"/>
            <a:ext cx="269748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748" y="23774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8748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38748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 corporativo, documentos, bases relacionais, vetoriais. Sem grounding, o agente alucina.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99068" y="2011680"/>
            <a:ext cx="26974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Shape 16"/>
          <p:cNvSpPr/>
          <p:nvPr/>
        </p:nvSpPr>
        <p:spPr>
          <a:xfrm>
            <a:off x="8999068" y="2011680"/>
            <a:ext cx="269748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3388" y="237744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3388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273388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Identidade, autorização, observabilidade, compliance. Diferença entre POC e produção.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 prontos para produção exigem que essas quatro camadas conversem.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copiloto que acelera o desenvolvimento de agentes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560320"/>
            <a:ext cx="5394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154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Geração de código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28800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Funções, classes, integrações com SDKs do Foundry e Azure AI.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2560320"/>
            <a:ext cx="5394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Shape 8"/>
          <p:cNvSpPr/>
          <p:nvPr/>
        </p:nvSpPr>
        <p:spPr>
          <a:xfrm>
            <a:off x="6309360" y="2926080"/>
            <a:ext cx="914400" cy="91440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154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Agent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406640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a lógica do agente antes de escrever uma linha de código.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480560"/>
            <a:ext cx="5394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Shape 12"/>
          <p:cNvSpPr/>
          <p:nvPr/>
        </p:nvSpPr>
        <p:spPr>
          <a:xfrm>
            <a:off x="731520" y="4846320"/>
            <a:ext cx="914400" cy="91440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074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Mode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828800" y="5257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Lê o codebase, edita múltiplos arquivos, roda comandos e testa em loop.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035040" y="4480560"/>
            <a:ext cx="5394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Shape 16"/>
          <p:cNvSpPr/>
          <p:nvPr/>
        </p:nvSpPr>
        <p:spPr>
          <a:xfrm>
            <a:off x="6309360" y="4846320"/>
            <a:ext cx="914400" cy="91440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50749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&amp; extensões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406640" y="5257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Copilot a ferramentas externas — Foundry, GitHub, bases de dados.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para construir, orquestrar e operar agentes em produção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95148" y="246888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4"/>
          <p:cNvSpPr/>
          <p:nvPr/>
        </p:nvSpPr>
        <p:spPr>
          <a:xfrm>
            <a:off x="495148" y="2468880"/>
            <a:ext cx="73152" cy="3657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28346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5188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de modelos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15188" y="4297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GPT, Claude, Llama, Mistral, modelos open-source. Mesma API, troca por configuração.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29788" y="246888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Shape 8"/>
          <p:cNvSpPr/>
          <p:nvPr/>
        </p:nvSpPr>
        <p:spPr>
          <a:xfrm>
            <a:off x="3329788" y="2468880"/>
            <a:ext cx="73152" cy="3657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828" y="28346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49828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corporativo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649828" y="4297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a SharePoint, Fabric, bases SQL, vetoriais. RAG gerenciado e seguro.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64428" y="246888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Shape 12"/>
          <p:cNvSpPr/>
          <p:nvPr/>
        </p:nvSpPr>
        <p:spPr>
          <a:xfrm>
            <a:off x="6164428" y="2468880"/>
            <a:ext cx="73152" cy="3657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468" y="283464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84468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Service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484468" y="4297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Orquestração de agentes, tools, memória, threads e estado — sem reinventar a roda.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999068" y="246888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Shape 16"/>
          <p:cNvSpPr/>
          <p:nvPr/>
        </p:nvSpPr>
        <p:spPr>
          <a:xfrm>
            <a:off x="8999068" y="2468880"/>
            <a:ext cx="73152" cy="3657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108" y="283464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19108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&amp; evals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9319108" y="4297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Entra ID, content safety, observabilidade, avaliação contínua.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combinação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um faz o que faz de melhor — e juntos cobrem o ciclo todo.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120640" cy="4206240"/>
          </a:xfrm>
          <a:prstGeom prst="rect">
            <a:avLst/>
          </a:prstGeom>
          <a:solidFill>
            <a:srgbClr val="161B22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77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 de DESENVOLVIMENTO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 o código que chama o Foundry SDK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a lógica e o fluxo do agente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 testes, debug e refactoring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com MCP servers do Foundry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 e mantém o codebase vivo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3886200"/>
            <a:ext cx="502920" cy="50292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8"/>
          <p:cNvSpPr/>
          <p:nvPr/>
        </p:nvSpPr>
        <p:spPr>
          <a:xfrm>
            <a:off x="5852160" y="38221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6446520" y="2103120"/>
            <a:ext cx="5120640" cy="4206240"/>
          </a:xfrm>
          <a:prstGeom prst="rect">
            <a:avLst/>
          </a:prstGeom>
          <a:solidFill>
            <a:srgbClr val="161B22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3774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377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7208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 de ORQUESTRAÇÃO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720840" y="34747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Gerencia e troca modelos sem refazer código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 grounding com dados corporativos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Provê tools, memória e estado do agente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governança, segurança e quotas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Observa, avalia e versiona em produção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de referência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10896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7432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GitHub Copilot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27432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Actions, PRs, AGENTS.MD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617720"/>
            <a:ext cx="27432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do agente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TypeScript · .NET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2588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 SDK · MCP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3749040"/>
            <a:ext cx="365760" cy="3657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06240" y="1645920"/>
            <a:ext cx="41148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5"/>
          <p:cNvSpPr/>
          <p:nvPr/>
        </p:nvSpPr>
        <p:spPr>
          <a:xfrm>
            <a:off x="43434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389120" y="2240280"/>
            <a:ext cx="374904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Text 17"/>
          <p:cNvSpPr/>
          <p:nvPr/>
        </p:nvSpPr>
        <p:spPr>
          <a:xfrm>
            <a:off x="438912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Service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89120" y="3063240"/>
            <a:ext cx="11887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22783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669280" y="3063240"/>
            <a:ext cx="11887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227832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692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949440" y="3063240"/>
            <a:ext cx="11887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3227832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94944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389120" y="4251960"/>
            <a:ext cx="374904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434840"/>
            <a:ext cx="502920" cy="5029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1208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&amp; RAG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521208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vetorial · keyword · híbrido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389120" y="5257800"/>
            <a:ext cx="3749040" cy="731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367528"/>
            <a:ext cx="502920" cy="5029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1208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ID · Evals · Observabilidade</a:t>
            </a:r>
            <a:endParaRPr lang="en-US" sz="12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749040"/>
            <a:ext cx="365760" cy="36576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8961120" y="1645920"/>
            <a:ext cx="27432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895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Text 30"/>
          <p:cNvSpPr/>
          <p:nvPr/>
        </p:nvSpPr>
        <p:spPr>
          <a:xfrm>
            <a:off x="909828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95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&amp; CANAIS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9144000" y="2286000"/>
            <a:ext cx="23774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Text 32"/>
          <p:cNvSpPr/>
          <p:nvPr/>
        </p:nvSpPr>
        <p:spPr>
          <a:xfrm>
            <a:off x="93268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Fabric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9144000" y="2880360"/>
            <a:ext cx="23774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Text 34"/>
          <p:cNvSpPr/>
          <p:nvPr/>
        </p:nvSpPr>
        <p:spPr>
          <a:xfrm>
            <a:off x="932688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 / OneDrive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9144000" y="3474720"/>
            <a:ext cx="23774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8" name="Text 36"/>
          <p:cNvSpPr/>
          <p:nvPr/>
        </p:nvSpPr>
        <p:spPr>
          <a:xfrm>
            <a:off x="932688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SQL · Cosmos DB</a:t>
            </a:r>
            <a:endParaRPr lang="en-US" sz="1200" dirty="0"/>
          </a:p>
        </p:txBody>
      </p:sp>
      <p:sp>
        <p:nvSpPr>
          <p:cNvPr id="49" name="Shape 37"/>
          <p:cNvSpPr/>
          <p:nvPr/>
        </p:nvSpPr>
        <p:spPr>
          <a:xfrm>
            <a:off x="9144000" y="4069080"/>
            <a:ext cx="23774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0" name="Text 38"/>
          <p:cNvSpPr/>
          <p:nvPr/>
        </p:nvSpPr>
        <p:spPr>
          <a:xfrm>
            <a:off x="9326880" y="4069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Search (vetorial)</a:t>
            </a:r>
            <a:endParaRPr lang="en-US" sz="1200" dirty="0"/>
          </a:p>
        </p:txBody>
      </p:sp>
      <p:sp>
        <p:nvSpPr>
          <p:cNvPr id="51" name="Shape 39"/>
          <p:cNvSpPr/>
          <p:nvPr/>
        </p:nvSpPr>
        <p:spPr>
          <a:xfrm>
            <a:off x="9144000" y="4663440"/>
            <a:ext cx="23774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2" name="Text 40"/>
          <p:cNvSpPr/>
          <p:nvPr/>
        </p:nvSpPr>
        <p:spPr>
          <a:xfrm>
            <a:off x="9326880" y="4663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· Copilot Chat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9144000" y="5257800"/>
            <a:ext cx="23774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4" name="Text 42"/>
          <p:cNvSpPr/>
          <p:nvPr/>
        </p:nvSpPr>
        <p:spPr>
          <a:xfrm>
            <a:off x="932688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· Web · Mobile</a:t>
            </a:r>
            <a:endParaRPr lang="en-US" sz="1200" dirty="0"/>
          </a:p>
        </p:txBody>
      </p:sp>
      <p:sp>
        <p:nvSpPr>
          <p:cNvPr id="55" name="Shape 4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6" name="Text 4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código ao agente em produção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fluxo onde Copilot e Foundry se entregam de mão dada.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128" y="2011680"/>
            <a:ext cx="219456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975208" y="2377440"/>
            <a:ext cx="914400" cy="9144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97520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1800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3728" y="40233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Agent do Copilot estrutura o agente: tools, prompts, dados.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66848" y="2011680"/>
            <a:ext cx="219456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Shape 9"/>
          <p:cNvSpPr/>
          <p:nvPr/>
        </p:nvSpPr>
        <p:spPr>
          <a:xfrm>
            <a:off x="3306928" y="2377440"/>
            <a:ext cx="914400" cy="9144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330692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4972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95448" y="40233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Mode gera o código que chama o Foundry SDK e configura tools.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98568" y="2011680"/>
            <a:ext cx="219456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Shape 14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563864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18144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27168" y="40233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conecta a fontes corporativas — Fabric, SharePoint, SQL.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30288" y="2011680"/>
            <a:ext cx="219456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7970368" y="2377440"/>
            <a:ext cx="914400" cy="9144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797036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51316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58888" y="40233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Service orquestra modelo, ferramentas e estado em runtime.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62008" y="2011680"/>
            <a:ext cx="219456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Shape 24"/>
          <p:cNvSpPr/>
          <p:nvPr/>
        </p:nvSpPr>
        <p:spPr>
          <a:xfrm>
            <a:off x="10302088" y="2377440"/>
            <a:ext cx="914400" cy="9144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/>
          <p:nvPr/>
        </p:nvSpPr>
        <p:spPr>
          <a:xfrm>
            <a:off x="1030208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84488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90608" y="40233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Evals contínuos, telemetria e ajuste fino — de volta pro código.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  ciclo contínuo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prática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pede o agente — Foundry entrega a infra.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94960" cy="4297680"/>
          </a:xfrm>
          <a:prstGeom prst="rect">
            <a:avLst/>
          </a:prstGeom>
          <a:solidFill>
            <a:srgbClr val="161B22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PARA O COPILOT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um agente Foundry chamado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"AssistentePolíticas" que: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gpt-4o do catálogo Foundry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Faça grounding em Azure AI Search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(índice: politicas-rh-prod)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Tenha uma tool que consulte a 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interna de RH (OpenAPI: rh.json)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Mantenha thread por usuário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Aplique content safety padrão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 como módulo Python e gere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testes unitários.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88620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920240"/>
            <a:ext cx="5349240" cy="4297680"/>
          </a:xfrm>
          <a:prstGeom prst="rect">
            <a:avLst/>
          </a:prstGeom>
          <a:solidFill>
            <a:srgbClr val="161B22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667512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GERADO  ·  agent.py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256032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azure.ai.projects import AIProjectClient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DefaultAzureCredential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AIProjectClient(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endpoint=FOUNDRY_ENDPOINT,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credential=DefaultAzureCredential(),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client.agents.create_agent(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model="gpt-4o",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name="AssistentePoliticas",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instructions=PROMPT_RH,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"azure_ai_search",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"index": "politicas-rh-prod"},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"openapi",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"spec": load("rh.json")},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2194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237744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+ Copilot + Foundry — ao vivo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377440" y="4800600"/>
            <a:ext cx="274320" cy="27432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4"/>
          <p:cNvSpPr/>
          <p:nvPr/>
        </p:nvSpPr>
        <p:spPr>
          <a:xfrm>
            <a:off x="237744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889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Agent estrutura o agente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377440" y="5212080"/>
            <a:ext cx="274320" cy="27432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237744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8892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Mode escreve o código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77440" y="5623560"/>
            <a:ext cx="274320" cy="27432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23774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executa e responde no chat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Boas práticas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Lições do dia a dia construindo o Belake.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AGENTS.MD no repo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 convenções, modelos preferidos e tools — Copilot e o time leem o mesmo manual.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94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Comece pelo plan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21208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Plan Agent antes de pedir código. Agente bem desenhado vale mais que 1.000 linhas.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920240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1945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primeiro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05256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ID e Managed Identity desde o dia 1. Não deixe credencial em código.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520440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947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&gt; prompt gigante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enfie tudo no system prompt. Use Foundry RAG e tools para dados frescos.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297680" y="3520440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379476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Evals como teste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21208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Trate avaliação de agente como test suite. Roda em PR via GitHub Actions.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138160" y="3520440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79476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por tarefa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905256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grande pra raciocínio, modelo pequeno pra extração. Foundry permite essa mistura.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2"/>
          <p:cNvSpPr/>
          <p:nvPr/>
        </p:nvSpPr>
        <p:spPr>
          <a:xfrm>
            <a:off x="640080" y="5349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segredo não é escolher entre Copilot ou Foundry — é deixar cada um fazer o que faz melhor.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2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22523-4EF9-67DB-8639-32B974BE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760A56-9390-84F2-9AED-F466C91822A2}"/>
              </a:ext>
            </a:extLst>
          </p:cNvPr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Links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E904CB-6B55-BF60-73F0-E2CAA0AA6F53}"/>
              </a:ext>
            </a:extLst>
          </p:cNvPr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C6A501DC-A9F6-6415-21E7-81249C8505AF}"/>
              </a:ext>
            </a:extLst>
          </p:cNvPr>
          <p:cNvSpPr/>
          <p:nvPr/>
        </p:nvSpPr>
        <p:spPr>
          <a:xfrm>
            <a:off x="457200" y="1532867"/>
            <a:ext cx="11277295" cy="4913653"/>
          </a:xfrm>
          <a:prstGeom prst="rect">
            <a:avLst/>
          </a:prstGeom>
          <a:solidFill>
            <a:srgbClr val="161B22"/>
          </a:solidFill>
          <a:ln w="25400">
            <a:solidFill>
              <a:srgbClr val="2EA0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29CB4031-DE47-0A2B-C040-2EC31FB06564}"/>
              </a:ext>
            </a:extLst>
          </p:cNvPr>
          <p:cNvSpPr/>
          <p:nvPr/>
        </p:nvSpPr>
        <p:spPr>
          <a:xfrm>
            <a:off x="623455" y="1737360"/>
            <a:ext cx="11111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b="1" i="1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https://ai.azure.com</a:t>
            </a:r>
            <a:endParaRPr lang="en-US" b="1" i="1" dirty="0">
              <a:solidFill>
                <a:schemeClr val="bg1"/>
              </a:solidFill>
              <a:latin typeface="Aptos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Skills para GitHub Copilot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https://skills.sh</a:t>
            </a:r>
            <a:endParaRPr lang="en-US" b="1" i="1" dirty="0">
              <a:solidFill>
                <a:schemeClr val="bg1"/>
              </a:solidFill>
              <a:latin typeface="Aptos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Applied skill –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Criar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um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agente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de IA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https://learn.microsoft.com/pt-br/credentials/applied-skills/create-an-ai-agent/</a:t>
            </a:r>
            <a:endParaRPr lang="en-US" b="1" i="1" dirty="0">
              <a:solidFill>
                <a:schemeClr val="bg1"/>
              </a:solidFill>
              <a:latin typeface="Aptos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Applied skill –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Acelerar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o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desenvolvimento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assistido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por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IA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usando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GitHub Copilot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https://learn.microsoft.com/pt-br/credentials/applied-skills/accelerate-app-development-by-using-github-copilot/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Projetos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de </a:t>
            </a:r>
            <a:r>
              <a:rPr lang="en-US" b="1" i="1" dirty="0" err="1">
                <a:solidFill>
                  <a:schemeClr val="bg1"/>
                </a:solidFill>
                <a:latin typeface="Aptos" pitchFamily="34" charset="0"/>
              </a:rPr>
              <a:t>exemplo</a:t>
            </a:r>
            <a:endParaRPr lang="en-US" b="1" i="1" dirty="0">
              <a:solidFill>
                <a:schemeClr val="bg1"/>
              </a:solidFill>
              <a:latin typeface="Aptos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https://github.com/renatoromao</a:t>
            </a:r>
            <a:r>
              <a:rPr lang="en-US" b="1" i="1" dirty="0">
                <a:solidFill>
                  <a:schemeClr val="bg1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37F7FB1E-AB3B-C83B-97C9-290CACDB6D8F}"/>
              </a:ext>
            </a:extLst>
          </p:cNvPr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CBD3D131-F101-92DB-1B4B-46486F460DBA}"/>
              </a:ext>
            </a:extLst>
          </p:cNvPr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GitHub Copilot + Microsoft Foundry  ·  Renato Romão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F919B4BF-54E1-2D51-5364-E7BE2620F526}"/>
              </a:ext>
            </a:extLst>
          </p:cNvPr>
          <p:cNvSpPr/>
          <p:nvPr/>
        </p:nvSpPr>
        <p:spPr>
          <a:xfrm>
            <a:off x="11277295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12 / 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773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37719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3771900"/>
            <a:ext cx="228600" cy="30861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Obrigado!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Agora é a sua vez de combinar Copilot + Foundry.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383280"/>
            <a:ext cx="13716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Vamos continuar a conversa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linkedin.com/in/renatoromao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Renato Romão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EA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Perguntas?</a:t>
            </a:r>
            <a:endParaRPr lang="en-US" sz="2400" dirty="0"/>
          </a:p>
        </p:txBody>
      </p:sp>
      <p:pic>
        <p:nvPicPr>
          <p:cNvPr id="15" name="Picture 1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5E2397D-C53A-1BBF-0117-DFAF69824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682" y="3429000"/>
            <a:ext cx="2418194" cy="2418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1250</Words>
  <Application>Microsoft Macintosh PowerPoint</Application>
  <PresentationFormat>Widescreen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+ Microsoft Foundry: Criando agentes de IA</dc:title>
  <dc:subject>PptxGenJS Presentation</dc:subject>
  <dc:creator>Renato Romão</dc:creator>
  <cp:lastModifiedBy>Renato Romao</cp:lastModifiedBy>
  <cp:revision>2</cp:revision>
  <dcterms:created xsi:type="dcterms:W3CDTF">2026-04-25T15:55:52Z</dcterms:created>
  <dcterms:modified xsi:type="dcterms:W3CDTF">2026-04-25T19:26:47Z</dcterms:modified>
</cp:coreProperties>
</file>